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OUVERTURE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SPECS - J1 | Mener une veille avec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7 h de TP continu • RNCP 41990 • Projet CIVILINK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Aujourd’hui : collecter, vérifier, comparer, recommander.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01/35  •  Atelier / corrigé immédiatement après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Le contrat : aucune décision technique déjà 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Éviter le réflexe « on prend React + microservices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Faire émerger des besoins, des preuves et des inconnues.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02/35  •  Atelier / corrigé immédiatement après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Objectifs observables du J1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Plan de veille lié à des décisions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Journal de recherche reproductible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Registre de preuves et contre-preuves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Benchmark scoré et recommandation conditionnelle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03/35  •  Atelier / corrigé immédiatement après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Fil rouge : CIVILINK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Réseau Terranova : 15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Plateforme d’ateliers et réservations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75 000 € indicatifs ; MVP envisagé à 6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Sources et chiffres du cas = fictifs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04/35  •  Atelier / corrigé immédiatement après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Distinguer faits, hypothèses, décisions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Fait : le commanditaire souhaite une étude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Hypothèse : 8 000 visites par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Question : faut-il gérer le paiement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Décision : à prendre après vérification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05/35  •  Atelier / corrigé immédiatement après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La chaîne d’une veille opératoire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Besoin → plan → collecte → 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Analyse → diffusion → conservation → actualisation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Le journal de preuves relie la source à la décision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06/35  •  Atelier / corrigé immédiatement après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4 regards complémentaires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Technologique : maturité, sécurité, contraintes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Sectoriel : usages, marché, réglementation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Concurrentiel : offres et différenciation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Stratégique : options et décisions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07/35  •  Atelier / corrigé immédiatement après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ATELIER 1 - Plan de veille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25 min en binôme + 20 min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3 décisions, 8 questions, 4 axes, requêtes FR/EN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Livrable : PLAN_DE_VEILLE.md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08/35  •  Atelier / corrigé immédiatement après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CORRIGÉ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CORRIGÉ 1 - Plan de veille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Décisions : réservation, architecture, hébergement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Questions reliées à budget, délai, utilisateurs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Sources : institutionnelles, docs officielles, retours vérifiés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Sortie : alternatives comparables + inconnues explicites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09/35  •  Atelier / corrigé immédiatement après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IA : assistant de recherche, pas autorité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Demander stratégie, requêtes et objections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Exiger sources vérifiables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Ouvrir les sources vous-mêmes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Archiver prompt et réponse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10/35  •  Atelier / corrigé immédiatement après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Démonstration de prompt initial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Rôle + projet + décision + types de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Ne présente aucun résultat comme vérifié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Demande tableau question / requête / preuve attendue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11/35  •  Atelier / corrigé immédiatement après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ATELIER 2 - Recherche réelle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40 min recherche + 25 min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10 résultats visités, 2 prompts archivés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FR et EN ; institutions + éditeurs + recherches contradictoires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Livrable : JOURNAL_RECHERCHE.csv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12/35  •  Atelier / corrigé immédiatement après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CORRIGÉ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CORRIGÉ 2 - Audit de recherche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Une URL « citée » par l’IA ≠ URL vérifiée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Ajouter date publication et consultation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Noter ce que la source n’établit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Ne pas inventer de tarifs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13/35  •  Atelier / corrigé immédiatement après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Le registre de preuves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Assertion vérifiable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Source primaire / passage utile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Date et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Verdict : établi / non établi / contradictoire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14/35  •  Atelier / corrigé immédiatement après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Qualité ≠ autorité de l’IA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 : preuve officielle précise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B : source secondaire crédible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 : marketing / témoignage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 : absence de preuve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15/35  •  Atelier / corrigé immédiatement après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ATELIER 3 - Les six assertions pièges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S1 RGPD « garanti » ; S2 PWA toujours moins chère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S3 99,99 % sans SLA ; S4 WCAG sans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S5 microservices pour tout MVP ; S6 tarif vitrine = TCO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Livrable : REGISTRE_PREUVES.csv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16/35  •  Atelier / corrigé immédiatement après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CORRIGÉ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CORRIGÉ 3 - Ne jamais surconclure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S1/S4 : conformité à démontrer dans un périmètre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S2/S5 : généralisations injustifiées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S3 : SLA contractuel manquant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S6 : intégration, exploitation, réversibilité à ajouter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17/35  •  Atelier / corrigé immédiatement après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Benchmark : comparer des stratégies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 sur mesure ; B SaaS ; C open source hébergée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Même besoin, mêmes critères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Différencier besoin impératif et préférence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Les cases vides restent « inconnues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18/35  •  Atelier / corrigé immédiatement après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ATELIER 4 - Fiches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35 min + 25 min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Fonctions, accessibilité, données, TCO, réversibilité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Séparer source, fait et hypothèse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Livrable : BENCHMARK.csv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19/35  •  Atelier / corrigé immédiatement après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CORRIGÉ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CORRIGÉ 4 - Forces /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Sur mesure : souplesse /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SaaS : rapidité / dépendance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Open source : maîtrise / 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Aucun vainqueur sans preuve comparable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20/35  •  Atelier / corrigé immédiatement après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Score multicritère : 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Adéquation 30 %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Coût 25 % ; sécurité 20 %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Délai 15 % ; réversibilité 10 %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Note 1–5 → somme pondérée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21/35  •  Atelier / corrigé immédiatement après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ATELIER 5 - Score et sensibilité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Notes fictives A [5,2,4,2,4]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B [4,4,3,5,2] ; C [3,4,3,3,5]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Calculer /5 et /100 ; tester sensibilité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Livrable : SCORING.csv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22/35  •  Atelier / corrigé immédiatement après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CORRIGÉ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CORRIGÉ 5 - Calcul explicite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 = 3,50/5 → 70/100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B = 3,75/5 → 75/100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 = 3,45/5 → 69/100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B n’est pas validé sans contrôle éliminatoire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23/35  •  Atelier / corrigé immédiatement après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Du benchmark aux exigences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Une donnée de marché n’est pas une demande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Transformer les alertes en questions pour le J2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Écrire des exigences candidates testables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Garder la trace des hypothèses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24/35  •  Atelier / corrigé immédiatement après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ATELIER 6 - Note de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40 min + 25 min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Faits, inconnues, 3 options, décision conditionnelle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6 exigences candidates + 5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Livrable : NOTE_DECISION.md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25/35  •  Atelier / corrigé immédiatement après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CORRIGÉ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CORRIGÉ 6 - Décision conditionnelle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Pilote SaaS possible sous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Vérifier contrat, accessibilité, réversibilité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Préciser plan B si preuves négatives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Reporter la validation des besoins au J2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26/35  •  Atelier / corrigé immédiatement après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ATELIER 7 - Comité de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Pitch 3 minutes + contradiction 2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Objection : « l’IA dit conforme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Décision : comment répond-on sans inventer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Mini-journal réflexif individuel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27/35  •  Atelier / corrigé immédiatement après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CORRIGÉ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CORRIGÉ 7 - Argumenter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« Nous ne pouvons pas conclure sans preuve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Lister vérification + responsable + délai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Décider avec conditions et plan alternatif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Conserver arbitrages et incertitudes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28/35  •  Atelier / corrigé immédiatement après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Évaluation formative sur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Plan 4 ; collecte 5 ; critique IA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Benchmark et score 4 ; restitution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Chaque recommandation = source ou hypothèse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29/35  •  Atelier / corrigé immédiatement après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Ce que nous transférons au J2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Questions non résolues et preuves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Hypothèses, options, exigences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Interview client : transformer hypothèses en besoin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Départ du cahier des charges fonctionnel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30/35  •  Atelier / corrigé immédiatement après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Mini-démo : document technique officiel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Afficher une page officielle et relever date +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Qu’affirme vraiment le texte ? Qu’ignore-t-il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Comment l’IA a-t-elle résumé ce passage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31/35  •  Atelier / corrigé immédiatement après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Mini-démo : deux réponses IA contradictoires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Deux prompts, deux propositions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Recherche d’une source discriminante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Conclusion = degré de confiance, pas vote entre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32/35  •  Atelier / corrigé immédiatement après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Contrôle : hallucination de référence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Lien introuvable, mauvaise date, chiffre sans 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Contre-mesure : ouverture + archive des preuves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Les références non vérifiées restent exclues du rapport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33/35  •  Atelier / corrigé immédiatement après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Contrôle : données sensibles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Ne pas copier des données client personnelles ou secrets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Utiliser un dossier pédagogique fictif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Vérifier conditions de confidentialité de l’outil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34/35  •  Atelier / corrigé immédiatement après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B85"/>
                </a:solidFill>
              </a:defRPr>
            </a:pPr>
            <a:r>
              <a:t>MODULE SPECS  |  JOUR 1  |  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304E"/>
                </a:solidFill>
              </a:defRPr>
            </a:pPr>
            <a:r>
              <a:t>Feuille de route des livrables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PLAN → JOURNAL → PREUVES →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4378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SCORING → NOTE → JOURNAL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3C4C"/>
                </a:solidFill>
              </a:defRPr>
            </a:pPr>
            <a:r>
              <a:t>•  Fichiers fournis dans le kit 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9"/>
                </a:solidFill>
              </a:defRPr>
            </a:pPr>
            <a:r>
              <a:t>RNCP 41990  •  CIVILINK  •  35/35  •  Atelier / corrigé immédiatement après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